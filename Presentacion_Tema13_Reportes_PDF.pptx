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E5B79E6D-D8AB-5141-35FD-D834ACE1DFFF}">
          <p14:sldIdLst>
            <p14:sldId id="256"/>
            <p14:sldId id="257"/>
            <p14:sldId id="258"/>
          </p14:sldIdLst>
        </p14:section>
        <p14:section name="Concepto" id="{D9F735C7-6845-4341-0D5B-261DAE3EC80B}">
          <p14:sldIdLst>
            <p14:sldId id="259"/>
            <p14:sldId id="260"/>
            <p14:sldId id="261"/>
          </p14:sldIdLst>
        </p14:section>
        <p14:section name="Configuración" id="{6E87CA81-D9ED-5A07-F0AC-CF92A68EA193}">
          <p14:sldIdLst>
            <p14:sldId id="262"/>
          </p14:sldIdLst>
        </p14:section>
        <p14:section name="Demostración" id="{F7E5A4A4-58F8-B16B-D81D-C65A1E29BDFD}">
          <p14:sldIdLst>
            <p14:sldId id="263"/>
            <p14:sldId id="264"/>
          </p14:sldIdLst>
        </p14:section>
        <p14:section name="Aplicación" id="{27EC12C3-FDC4-7F04-18F3-BCB6A3E86013}">
          <p14:sldIdLst>
            <p14:sldId id="265"/>
            <p14:sldId id="266"/>
          </p14:sldIdLst>
        </p14:section>
        <p14:section name="Cierre" id="{2054F4F1-4E93-5F34-7D3C-654004906997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33240B6-9436-4DF1-8AE9-C40A5EEF480F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A (0:00–0:20). Saludo y presentación. Idea guía: «Vamos a tomar lo que produce un modelo de IA, convertirlo en un PDF profesional dentro del celular y enviarlo con el menú Compartir del sistema». La imagen de la derecha es una página real generada por nuestra app.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10CF8B-8E13-49E8-BBEF-D384601DCD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A (0:20–0:40). Mencionar solo los bloques. La demo (en dorado) es la parte más larga: 10 minutos.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05DBA-B4FC-45EC-8A54-3A97272C9E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A (0:40–1:10). Idea guía: un modelo de IA nos da texto suelto, pero un cliente, un médico o un profesor quiere un documento. Ejemplo cotidiano: la factura electrónica de la DIAN es un PDF con QR; nuestro reporte también trae uno.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4D8E15-645C-456C-B98E-CD4D18C618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A (1:10–1:40). Presentar los 4 paquetes por su TAREA, no por su nombre. El protagonista es «pdf» (tarjeta oscura): está escrito 100 % en Dart, por eso funciona igual en Android, iOS, web y escritorio. printing y share_plus sí tienen una parte nativa (Android/iOS).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96FB0E-8D41-4E75-B738-FF6A8988BC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A (1:40–2:30). Mensaje clave: «se parece a Flutter, pero NO es Flutter». Por eso se importa con prefijo (pw.Text). Si alguien pregunta: las medidas van en puntos de imprenta (una hoja A4 mide 595 × 842) y MultiPage es el bloque que reparte el contenido en páginas y repite encabezado y pie. Dato: nuestro PDF de 4 páginas pesa unos 45 KB porque solo guarda las letras que usa.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8922B2-B2D0-445D-BB4A-57766A6B57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A (2:30–3:00). Explicar los 4 pasos con palabras simples. Si el profesor pide detalle técnico: share_plus usa un MethodChannel; en Android arma un Intent ACTION_SEND con un FileProvider (URI content:// con permiso temporal) y en iOS usa UIActivityViewController. Frase puente: «Para que todo esto funcione hay que configurar bien el proyecto; mi compañero les muestra cómo».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C7D19D-E073-4F91-B48A-F6C3C462663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B (3:00–6:00). Mostrar en VS Code: pubspec.yaml (paquetes y fuentes), AndroidManifest.xml (no se piden permisos de almacenamiento; las &lt;queries&gt; son para Android 11+) e Info.plist (en iOS compartir no necesita llaves; UIFileSharingEnabled hace visibles los PDF en la app Archivos). Mencionar los errores comunes del recuadro dorado. Frase puente: «Ya con todo configurado, veámoslo funcionando».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AA882F-DB02-445E-809D-C8FB6AC6141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AMBOS (6:00–16:00). Pasar al emulador (la app ya debe estar abierta). B recorre la app; A explica el código por capas; B muestra la vista previa; A comparte por Gmail; B hace el cambio en vivo mientras A narra; A cierra con el manejo de errores y las 28 pruebas. Guion detallado en GUIA_EXPOSICION.md, sección 4.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9A6A18-628F-438F-A762-E96A9EB862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después de la demo (o si el emulador falla, como respaldo). Señalar: encabezado que se repite, tabla cortada con su título repetido, numeración «Página X de Y» y QR de verificación.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C96E85-B554-4C94-8A6A-E06A7A85848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EXPOSITOR B (16:00–16:45). Generar en el celular funciona sin internet, no cuesta servidor y protege los datos. Para miles de documentos, firmas digitales o documentos legales conviene el servidor.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97A0F6-3F17-4C50-8285-FEFF6D31E2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explica el flujo (16:45–17:30): se le pide a la IA salida estructurada (JSON), la app la valida y solo entonces arma el PDF; si mañana cambiamos Gemini por OpenAI, solo cambia una clase. B cuenta los tres casos (17:30–18:15). Salud: en Colombia los datos de salud son datos sensibles (Ley 1581 de 2012), mejor generarlos en el celular. A cierra con el uso responsable (18:15–18:30).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1B0EC0-B19C-4963-B218-C4EC2E0BC9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resume las tres ideas en 30 segundos (18:30–19:00). B abre la ronda de preguntas, repite cada pregunta en voz alta y decide quién responde. Banco de 16 respuestas en GUIA_EXPOSICION.md, sección 7. Recordar cambiar TU_USUARIO por el usuario real de GitHub.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1E8BE2-3A4E-45EA-B827-7656C9FB30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RTADA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731520" y="1051560"/>
            <a:ext cx="676620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731520" y="1463040"/>
            <a:ext cx="6766200" cy="178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s-ES" sz="4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4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731520" y="3337560"/>
            <a:ext cx="658332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731520" y="5074920"/>
            <a:ext cx="67662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SCURO"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743040" lvl="1" indent="-2858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143000" lvl="2" indent="-2286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600200" lvl="3" indent="-2286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057400" lvl="4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14600" lvl="5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971800" lvl="6" indent="-2286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s-ES" sz="3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3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8" name="Text 0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Tema 13 · Reportes PDF y Compartir en Flutter</a:t>
            </a:r>
            <a:endParaRPr lang="es-E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1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B8C2D9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6530A0-FC5E-40DB-B07A-D1634C07A6BF}" type="slidenum">
              <a:rPr lang="en-US" sz="1000" b="0" u="none" strike="noStrike">
                <a:solidFill>
                  <a:srgbClr val="B8C2D9"/>
                </a:solidFill>
                <a:effectLst/>
                <a:uFillTx/>
                <a:latin typeface="Calibri"/>
              </a:rPr>
              <a:t>‹Nº›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body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</a:p>
        </p:txBody>
      </p:sp>
      <p:sp>
        <p:nvSpPr>
          <p:cNvPr id="12" name="Text 0"/>
          <p:cNvSpPr/>
          <p:nvPr/>
        </p:nvSpPr>
        <p:spPr>
          <a:xfrm>
            <a:off x="548640" y="63550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Tema 13 · Reportes PDF y Compartir en Flutter</a:t>
            </a:r>
            <a:endParaRPr lang="es-E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2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4A3BB9-7F6B-4485-8262-C98B8B2A0F10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‹Nº›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11" Type="http://schemas.openxmlformats.org/officeDocument/2006/relationships/image" Target="../media/image13.png"/><Relationship Id="rId5" Type="http://schemas.openxmlformats.org/officeDocument/2006/relationships/image" Target="../media/image30.pn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hasCustomPrompt="1"/>
          </p:nvPr>
        </p:nvSpPr>
        <p:spPr>
          <a:xfrm>
            <a:off x="731520" y="1051560"/>
            <a:ext cx="6766200" cy="319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TEMA 13 · DISPOSITIVOS MÓVILES · UDENAR 2026-2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title" hasCustomPrompt="1"/>
          </p:nvPr>
        </p:nvSpPr>
        <p:spPr>
          <a:xfrm>
            <a:off x="731520" y="1463040"/>
            <a:ext cx="6766200" cy="178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Reportes PDF y Compartir en Flutter</a:t>
            </a:r>
            <a:endParaRPr lang="es-ES" sz="4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hasCustomPrompt="1"/>
          </p:nvPr>
        </p:nvSpPr>
        <p:spPr>
          <a:xfrm>
            <a:off x="731520" y="3337560"/>
            <a:ext cx="658332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Cómo convertir lo que responde la IA en un documento listo para enviar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hasCustomPrompt="1"/>
          </p:nvPr>
        </p:nvSpPr>
        <p:spPr>
          <a:xfrm>
            <a:off x="731520" y="5074920"/>
            <a:ext cx="6766200" cy="82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Calibri"/>
              </a:rPr>
              <a:t>Integrantes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:</a:t>
            </a:r>
            <a:b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</a:b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Guillermo </a:t>
            </a:r>
            <a:r>
              <a:rPr lang="en-US" sz="1400" dirty="0">
                <a:solidFill>
                  <a:schemeClr val="lt1"/>
                </a:solidFill>
              </a:rPr>
              <a:t>Hernandez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b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</a:b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Calibri"/>
              </a:rPr>
              <a:t>Edwin </a:t>
            </a:r>
            <a:r>
              <a:rPr lang="en-US" sz="1400" b="0" u="none" strike="noStrike" dirty="0" err="1">
                <a:solidFill>
                  <a:schemeClr val="lt1"/>
                </a:solidFill>
                <a:effectLst/>
                <a:uFillTx/>
                <a:latin typeface="Calibri"/>
              </a:rPr>
              <a:t>Pupiales</a:t>
            </a:r>
            <a:endParaRPr lang="es-E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dirty="0">
                <a:solidFill>
                  <a:schemeClr val="accent3"/>
                </a:solidFill>
              </a:rPr>
              <a:t>Ing</a:t>
            </a: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Calibri"/>
              </a:rPr>
              <a:t>. Franklin Jiménez  </a:t>
            </a:r>
            <a:b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Calibri"/>
              </a:rPr>
            </a:br>
            <a:r>
              <a:rPr lang="en-US" sz="1400" b="0" u="none" strike="noStrike" dirty="0">
                <a:solidFill>
                  <a:schemeClr val="accent3"/>
                </a:solidFill>
                <a:effectLst/>
                <a:uFillTx/>
                <a:latin typeface="Calibri"/>
              </a:rPr>
              <a:t>Universidad de Nariño</a:t>
            </a:r>
            <a:endParaRPr lang="es-ES" sz="1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ortada-icono-1-circulo"/>
          <p:cNvSpPr/>
          <p:nvPr/>
        </p:nvSpPr>
        <p:spPr>
          <a:xfrm>
            <a:off x="731520" y="425196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portada-icono-1-icono" descr="portada-icono-1"/>
          <p:cNvPicPr/>
          <p:nvPr/>
        </p:nvPicPr>
        <p:blipFill>
          <a:blip r:embed="rId3"/>
          <a:stretch/>
        </p:blipFill>
        <p:spPr>
          <a:xfrm>
            <a:off x="868680" y="4389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portada-icono-2-circulo"/>
          <p:cNvSpPr/>
          <p:nvPr/>
        </p:nvSpPr>
        <p:spPr>
          <a:xfrm>
            <a:off x="1508760" y="425196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ortada-icono-2-icono" descr="portada-icono-2"/>
          <p:cNvPicPr/>
          <p:nvPr/>
        </p:nvPicPr>
        <p:blipFill>
          <a:blip r:embed="rId4"/>
          <a:stretch/>
        </p:blipFill>
        <p:spPr>
          <a:xfrm>
            <a:off x="1645920" y="4389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portada-icono-3-circulo"/>
          <p:cNvSpPr/>
          <p:nvPr/>
        </p:nvSpPr>
        <p:spPr>
          <a:xfrm>
            <a:off x="2286000" y="425196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portada-icono-3-icono" descr="portada-icono-3"/>
          <p:cNvPicPr/>
          <p:nvPr/>
        </p:nvPicPr>
        <p:blipFill>
          <a:blip r:embed="rId5"/>
          <a:stretch/>
        </p:blipFill>
        <p:spPr>
          <a:xfrm>
            <a:off x="2423160" y="43891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ortada-marco-pdf"/>
          <p:cNvSpPr/>
          <p:nvPr/>
        </p:nvSpPr>
        <p:spPr>
          <a:xfrm rot="180000">
            <a:off x="8001000" y="776880"/>
            <a:ext cx="3611520" cy="507456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blurRad="127080" dist="38160" dir="5400000" algn="bl" rotWithShape="0">
              <a:srgbClr val="1C2333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portada-pdf" descr="Primera página del reporte PDF generado por la app"/>
          <p:cNvPicPr/>
          <p:nvPr/>
        </p:nvPicPr>
        <p:blipFill>
          <a:blip r:embed="rId6"/>
          <a:stretch/>
        </p:blipFill>
        <p:spPr>
          <a:xfrm rot="180000">
            <a:off x="8092440" y="868320"/>
            <a:ext cx="3428640" cy="4845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AGENDA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Lo que veremos en 20 minutos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agenda-linea"/>
          <p:cNvSpPr/>
          <p:nvPr/>
        </p:nvSpPr>
        <p:spPr>
          <a:xfrm>
            <a:off x="1657800" y="2445840"/>
            <a:ext cx="8873280" cy="360"/>
          </a:xfrm>
          <a:prstGeom prst="line">
            <a:avLst/>
          </a:prstGeom>
          <a:ln w="25400">
            <a:solidFill>
              <a:srgbClr val="B8C2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agenda-paso-1"/>
          <p:cNvSpPr/>
          <p:nvPr/>
        </p:nvSpPr>
        <p:spPr>
          <a:xfrm>
            <a:off x="1223640" y="201168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agenda-paso-1-num"/>
          <p:cNvSpPr/>
          <p:nvPr/>
        </p:nvSpPr>
        <p:spPr>
          <a:xfrm>
            <a:off x="1223640" y="201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agenda-tiempo-1"/>
          <p:cNvSpPr/>
          <p:nvPr/>
        </p:nvSpPr>
        <p:spPr>
          <a:xfrm>
            <a:off x="548640" y="306324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0–3 min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agenda-titulo-1"/>
          <p:cNvSpPr/>
          <p:nvPr/>
        </p:nvSpPr>
        <p:spPr>
          <a:xfrm>
            <a:off x="548640" y="3401640"/>
            <a:ext cx="2217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¿Qué es?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agenda-desc-1"/>
          <p:cNvSpPr/>
          <p:nvPr/>
        </p:nvSpPr>
        <p:spPr>
          <a:xfrm>
            <a:off x="685800" y="3886200"/>
            <a:ext cx="1943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Las herramientas y cómo funcionan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agenda-paso-2"/>
          <p:cNvSpPr/>
          <p:nvPr/>
        </p:nvSpPr>
        <p:spPr>
          <a:xfrm>
            <a:off x="3441960" y="201168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agenda-paso-2-num"/>
          <p:cNvSpPr/>
          <p:nvPr/>
        </p:nvSpPr>
        <p:spPr>
          <a:xfrm>
            <a:off x="3441960" y="201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agenda-tiempo-2"/>
          <p:cNvSpPr/>
          <p:nvPr/>
        </p:nvSpPr>
        <p:spPr>
          <a:xfrm>
            <a:off x="2766960" y="306324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3–6 min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agenda-titulo-2"/>
          <p:cNvSpPr/>
          <p:nvPr/>
        </p:nvSpPr>
        <p:spPr>
          <a:xfrm>
            <a:off x="2766960" y="3401640"/>
            <a:ext cx="2217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Configuración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agenda-desc-2"/>
          <p:cNvSpPr/>
          <p:nvPr/>
        </p:nvSpPr>
        <p:spPr>
          <a:xfrm>
            <a:off x="2904120" y="3886200"/>
            <a:ext cx="1943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Paquetes y permisos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agenda-paso-3"/>
          <p:cNvSpPr/>
          <p:nvPr/>
        </p:nvSpPr>
        <p:spPr>
          <a:xfrm>
            <a:off x="5660280" y="2011680"/>
            <a:ext cx="868320" cy="868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agenda-paso-3-num"/>
          <p:cNvSpPr/>
          <p:nvPr/>
        </p:nvSpPr>
        <p:spPr>
          <a:xfrm>
            <a:off x="5660280" y="201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agenda-tiempo-3"/>
          <p:cNvSpPr/>
          <p:nvPr/>
        </p:nvSpPr>
        <p:spPr>
          <a:xfrm>
            <a:off x="4985280" y="306324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6–16 min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agenda-titulo-3"/>
          <p:cNvSpPr/>
          <p:nvPr/>
        </p:nvSpPr>
        <p:spPr>
          <a:xfrm>
            <a:off x="4985280" y="3401640"/>
            <a:ext cx="2217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Demo en vivo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agenda-desc-3"/>
          <p:cNvSpPr/>
          <p:nvPr/>
        </p:nvSpPr>
        <p:spPr>
          <a:xfrm>
            <a:off x="5122440" y="3886200"/>
            <a:ext cx="1943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La app funcionando en el emulador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agenda-paso-4"/>
          <p:cNvSpPr/>
          <p:nvPr/>
        </p:nvSpPr>
        <p:spPr>
          <a:xfrm>
            <a:off x="7878600" y="201168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agenda-paso-4-num"/>
          <p:cNvSpPr/>
          <p:nvPr/>
        </p:nvSpPr>
        <p:spPr>
          <a:xfrm>
            <a:off x="7878600" y="201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agenda-tiempo-4"/>
          <p:cNvSpPr/>
          <p:nvPr/>
        </p:nvSpPr>
        <p:spPr>
          <a:xfrm>
            <a:off x="7203600" y="306324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16–18 min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agenda-titulo-4"/>
          <p:cNvSpPr/>
          <p:nvPr/>
        </p:nvSpPr>
        <p:spPr>
          <a:xfrm>
            <a:off x="7203600" y="3401640"/>
            <a:ext cx="2217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IA en la vida real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agenda-desc-4"/>
          <p:cNvSpPr/>
          <p:nvPr/>
        </p:nvSpPr>
        <p:spPr>
          <a:xfrm>
            <a:off x="7340760" y="3886200"/>
            <a:ext cx="1943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Dónde se usa esto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agenda-paso-5"/>
          <p:cNvSpPr/>
          <p:nvPr/>
        </p:nvSpPr>
        <p:spPr>
          <a:xfrm>
            <a:off x="10096920" y="201168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agenda-paso-5-num"/>
          <p:cNvSpPr/>
          <p:nvPr/>
        </p:nvSpPr>
        <p:spPr>
          <a:xfrm>
            <a:off x="10096920" y="2011680"/>
            <a:ext cx="8683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agenda-tiempo-5"/>
          <p:cNvSpPr/>
          <p:nvPr/>
        </p:nvSpPr>
        <p:spPr>
          <a:xfrm>
            <a:off x="9421920" y="306324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18–20 min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agenda-titulo-5"/>
          <p:cNvSpPr/>
          <p:nvPr/>
        </p:nvSpPr>
        <p:spPr>
          <a:xfrm>
            <a:off x="9421920" y="3401640"/>
            <a:ext cx="2217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Preguntas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agenda-desc-5"/>
          <p:cNvSpPr/>
          <p:nvPr/>
        </p:nvSpPr>
        <p:spPr>
          <a:xfrm>
            <a:off x="9559080" y="3886200"/>
            <a:ext cx="1943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Conclusiones y dudas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agenda-tarjeta-repo"/>
          <p:cNvSpPr/>
          <p:nvPr/>
        </p:nvSpPr>
        <p:spPr>
          <a:xfrm>
            <a:off x="548640" y="5029200"/>
            <a:ext cx="11091240" cy="86832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agenda-github-circulo"/>
          <p:cNvSpPr/>
          <p:nvPr/>
        </p:nvSpPr>
        <p:spPr>
          <a:xfrm>
            <a:off x="777240" y="5184720"/>
            <a:ext cx="548280" cy="5482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agenda-github-icono" descr="agenda-github"/>
          <p:cNvPicPr/>
          <p:nvPr/>
        </p:nvPicPr>
        <p:blipFill>
          <a:blip r:embed="rId3"/>
          <a:stretch/>
        </p:blipFill>
        <p:spPr>
          <a:xfrm>
            <a:off x="914400" y="532188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agenda-texto-repo"/>
          <p:cNvSpPr/>
          <p:nvPr/>
        </p:nvSpPr>
        <p:spPr>
          <a:xfrm>
            <a:off x="1508760" y="5029200"/>
            <a:ext cx="98751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Al final: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repositorio público en GitHub con el código, las instrucciones paso a paso y un PDF de ejemplo.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6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3FA719-5019-4E7D-A53C-136BBBC0C52C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2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EL PROBLEMA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La IA da texto; las personas necesitan documentos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roblema-burbuja"/>
          <p:cNvSpPr/>
          <p:nvPr/>
        </p:nvSpPr>
        <p:spPr>
          <a:xfrm>
            <a:off x="548640" y="1783080"/>
            <a:ext cx="5028840" cy="1782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roblema-etiqueta"/>
          <p:cNvSpPr/>
          <p:nvPr/>
        </p:nvSpPr>
        <p:spPr>
          <a:xfrm>
            <a:off x="822960" y="1965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chemeClr val="accent1"/>
                </a:solidFill>
                <a:effectLst/>
                <a:uFillTx/>
                <a:latin typeface="Calibri"/>
              </a:rPr>
              <a:t>RESPUESTA DE LA IA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roblema-texto-ia"/>
          <p:cNvSpPr/>
          <p:nvPr/>
        </p:nvSpPr>
        <p:spPr>
          <a:xfrm>
            <a:off x="822960" y="2286000"/>
            <a:ext cx="45259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«El 64 % de las interacciones fue positivo… la espera telefónica promedio es de 6,8 minutos… se recomienda reforzar la línea en horas pico…»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roblema-flecha"/>
          <p:cNvSpPr/>
          <p:nvPr/>
        </p:nvSpPr>
        <p:spPr>
          <a:xfrm>
            <a:off x="2834640" y="3703320"/>
            <a:ext cx="456840" cy="456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roblema-documento"/>
          <p:cNvSpPr/>
          <p:nvPr/>
        </p:nvSpPr>
        <p:spPr>
          <a:xfrm>
            <a:off x="548640" y="4297680"/>
            <a:ext cx="5028840" cy="1645560"/>
          </a:xfrm>
          <a:prstGeom prst="roundRect">
            <a:avLst>
              <a:gd name="adj" fmla="val 8333"/>
            </a:avLst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  <a:effectLst>
            <a:outerShdw blurRad="127080" dist="38160" dir="5400000" algn="bl" rotWithShape="0">
              <a:srgbClr val="1C2333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problema-icono-pdf-circulo"/>
          <p:cNvSpPr/>
          <p:nvPr/>
        </p:nvSpPr>
        <p:spPr>
          <a:xfrm>
            <a:off x="822960" y="4663440"/>
            <a:ext cx="868320" cy="868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problema-icono-pdf-icono" descr="problema-icono-pdf"/>
          <p:cNvPicPr/>
          <p:nvPr/>
        </p:nvPicPr>
        <p:blipFill>
          <a:blip r:embed="rId3"/>
          <a:stretch/>
        </p:blipFill>
        <p:spPr>
          <a:xfrm>
            <a:off x="1040040" y="488052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roblema-texto-pdf"/>
          <p:cNvSpPr/>
          <p:nvPr/>
        </p:nvSpPr>
        <p:spPr>
          <a:xfrm>
            <a:off x="1920240" y="4526280"/>
            <a:ext cx="34743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Reporte PDF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3"/>
                </a:solidFill>
                <a:effectLst/>
                <a:uFillTx/>
                <a:latin typeface="Calibri"/>
                <a:ea typeface="Cambria"/>
              </a:rPr>
              <a:t>Título, indicadores, gráfico, tabla y QR: listo para enviar.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beneficio-1-circulo"/>
          <p:cNvSpPr/>
          <p:nvPr/>
        </p:nvSpPr>
        <p:spPr>
          <a:xfrm>
            <a:off x="6172200" y="178308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beneficio-1-icono" descr="beneficio-1"/>
          <p:cNvPicPr/>
          <p:nvPr/>
        </p:nvPicPr>
        <p:blipFill>
          <a:blip r:embed="rId4"/>
          <a:stretch/>
        </p:blipFill>
        <p:spPr>
          <a:xfrm>
            <a:off x="6343560" y="19544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beneficio-texto-1"/>
          <p:cNvSpPr/>
          <p:nvPr/>
        </p:nvSpPr>
        <p:spPr>
          <a:xfrm>
            <a:off x="7086600" y="1737360"/>
            <a:ext cx="45532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Se ve igual en todas partes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En Android, iPhone, computador o impreso.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beneficio-2-circulo"/>
          <p:cNvSpPr/>
          <p:nvPr/>
        </p:nvSpPr>
        <p:spPr>
          <a:xfrm>
            <a:off x="6172200" y="283464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beneficio-2-icono" descr="beneficio-2"/>
          <p:cNvPicPr/>
          <p:nvPr/>
        </p:nvPicPr>
        <p:blipFill>
          <a:blip r:embed="rId5"/>
          <a:stretch/>
        </p:blipFill>
        <p:spPr>
          <a:xfrm>
            <a:off x="6343560" y="300600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beneficio-texto-2"/>
          <p:cNvSpPr/>
          <p:nvPr/>
        </p:nvSpPr>
        <p:spPr>
          <a:xfrm>
            <a:off x="7086600" y="2788920"/>
            <a:ext cx="45532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Se imprime y se archiva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Sirve como evidencia: auditorías, historias clínicas.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beneficio-3-circulo"/>
          <p:cNvSpPr/>
          <p:nvPr/>
        </p:nvSpPr>
        <p:spPr>
          <a:xfrm>
            <a:off x="6172200" y="388620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beneficio-3-icono" descr="beneficio-3"/>
          <p:cNvPicPr/>
          <p:nvPr/>
        </p:nvPicPr>
        <p:blipFill>
          <a:blip r:embed="rId6"/>
          <a:stretch/>
        </p:blipFill>
        <p:spPr>
          <a:xfrm>
            <a:off x="6343560" y="40575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beneficio-texto-3"/>
          <p:cNvSpPr/>
          <p:nvPr/>
        </p:nvSpPr>
        <p:spPr>
          <a:xfrm>
            <a:off x="7086600" y="3840480"/>
            <a:ext cx="45532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Se envía fácil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Por WhatsApp, correo o Drive, sin instalar nada.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beneficio-4-circulo"/>
          <p:cNvSpPr/>
          <p:nvPr/>
        </p:nvSpPr>
        <p:spPr>
          <a:xfrm>
            <a:off x="6172200" y="493776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beneficio-4-icono" descr="beneficio-4"/>
          <p:cNvPicPr/>
          <p:nvPr/>
        </p:nvPicPr>
        <p:blipFill>
          <a:blip r:embed="rId7"/>
          <a:stretch/>
        </p:blipFill>
        <p:spPr>
          <a:xfrm>
            <a:off x="6343560" y="510912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beneficio-texto-4"/>
          <p:cNvSpPr/>
          <p:nvPr/>
        </p:nvSpPr>
        <p:spPr>
          <a:xfrm>
            <a:off x="7086600" y="4892040"/>
            <a:ext cx="45532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Se ve profesional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Logo, tablas, gráficos y páginas numeradas.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sldNum" idx="7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F864B4-5B40-4A7F-9860-C134E6DC69B6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3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LAS HERRAMIENTAS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Cuatro paquetes, cada uno con una tarea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aquete-tarjeta-pdf"/>
          <p:cNvSpPr/>
          <p:nvPr/>
        </p:nvSpPr>
        <p:spPr>
          <a:xfrm>
            <a:off x="548640" y="1783080"/>
            <a:ext cx="2566800" cy="3611520"/>
          </a:xfrm>
          <a:prstGeom prst="roundRect">
            <a:avLst>
              <a:gd name="adj" fmla="val 5343"/>
            </a:avLst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  <a:effectLst>
            <a:outerShdw blurRad="127080" dist="38160" dir="5400000" algn="bl" rotWithShape="0">
              <a:srgbClr val="1C2333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aquete-pdf-circulo"/>
          <p:cNvSpPr/>
          <p:nvPr/>
        </p:nvSpPr>
        <p:spPr>
          <a:xfrm>
            <a:off x="822960" y="2103120"/>
            <a:ext cx="868320" cy="8683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aquete-pdf-icono" descr="paquete-pdf"/>
          <p:cNvPicPr/>
          <p:nvPr/>
        </p:nvPicPr>
        <p:blipFill>
          <a:blip r:embed="rId3"/>
          <a:stretch/>
        </p:blipFill>
        <p:spPr>
          <a:xfrm>
            <a:off x="1040040" y="232020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aquete-nombre-pdf"/>
          <p:cNvSpPr/>
          <p:nvPr/>
        </p:nvSpPr>
        <p:spPr>
          <a:xfrm>
            <a:off x="822960" y="3200400"/>
            <a:ext cx="2018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pdf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aquete-rol-pdf"/>
          <p:cNvSpPr/>
          <p:nvPr/>
        </p:nvSpPr>
        <p:spPr>
          <a:xfrm>
            <a:off x="822960" y="3547800"/>
            <a:ext cx="2018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Diseña el documento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aquete-desc-pdf"/>
          <p:cNvSpPr/>
          <p:nvPr/>
        </p:nvSpPr>
        <p:spPr>
          <a:xfrm>
            <a:off x="822960" y="4316040"/>
            <a:ext cx="20181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Arma el PDF con bloques, como una pantalla de Flutter.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aquete-tarjeta-printing"/>
          <p:cNvSpPr/>
          <p:nvPr/>
        </p:nvSpPr>
        <p:spPr>
          <a:xfrm>
            <a:off x="3390120" y="1783080"/>
            <a:ext cx="2566800" cy="36115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aquete-printing-circulo"/>
          <p:cNvSpPr/>
          <p:nvPr/>
        </p:nvSpPr>
        <p:spPr>
          <a:xfrm>
            <a:off x="3664440" y="210312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paquete-printing-icono" descr="paquete-printing"/>
          <p:cNvPicPr/>
          <p:nvPr/>
        </p:nvPicPr>
        <p:blipFill>
          <a:blip r:embed="rId4"/>
          <a:stretch/>
        </p:blipFill>
        <p:spPr>
          <a:xfrm>
            <a:off x="3881520" y="232020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aquete-nombre-printing"/>
          <p:cNvSpPr/>
          <p:nvPr/>
        </p:nvSpPr>
        <p:spPr>
          <a:xfrm>
            <a:off x="3664440" y="3200400"/>
            <a:ext cx="2018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printing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aquete-rol-printing"/>
          <p:cNvSpPr/>
          <p:nvPr/>
        </p:nvSpPr>
        <p:spPr>
          <a:xfrm>
            <a:off x="3664440" y="3547800"/>
            <a:ext cx="2018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Lo muestra e imprime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aquete-desc-printing"/>
          <p:cNvSpPr/>
          <p:nvPr/>
        </p:nvSpPr>
        <p:spPr>
          <a:xfrm>
            <a:off x="3664440" y="4316040"/>
            <a:ext cx="20181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Vista previa, imprimir y «Guardar como PDF».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aquete-tarjeta-share_plus"/>
          <p:cNvSpPr/>
          <p:nvPr/>
        </p:nvSpPr>
        <p:spPr>
          <a:xfrm>
            <a:off x="6231600" y="1783080"/>
            <a:ext cx="2566800" cy="36115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aquete-share_plus-circulo"/>
          <p:cNvSpPr/>
          <p:nvPr/>
        </p:nvSpPr>
        <p:spPr>
          <a:xfrm>
            <a:off x="6505920" y="210312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paquete-share_plus-icono" descr="paquete-share_plus"/>
          <p:cNvPicPr/>
          <p:nvPr/>
        </p:nvPicPr>
        <p:blipFill>
          <a:blip r:embed="rId5"/>
          <a:stretch/>
        </p:blipFill>
        <p:spPr>
          <a:xfrm>
            <a:off x="6723000" y="232020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paquete-nombre-share_plus"/>
          <p:cNvSpPr/>
          <p:nvPr/>
        </p:nvSpPr>
        <p:spPr>
          <a:xfrm>
            <a:off x="6505920" y="3200400"/>
            <a:ext cx="2018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share_plus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aquete-rol-share_plus"/>
          <p:cNvSpPr/>
          <p:nvPr/>
        </p:nvSpPr>
        <p:spPr>
          <a:xfrm>
            <a:off x="6505920" y="3547800"/>
            <a:ext cx="2018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Lo envía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aquete-desc-share_plus"/>
          <p:cNvSpPr/>
          <p:nvPr/>
        </p:nvSpPr>
        <p:spPr>
          <a:xfrm>
            <a:off x="6505920" y="4316040"/>
            <a:ext cx="20181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Abre el menú Compartir del celular.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aquete-tarjeta-path_provider"/>
          <p:cNvSpPr/>
          <p:nvPr/>
        </p:nvSpPr>
        <p:spPr>
          <a:xfrm>
            <a:off x="9073080" y="1783080"/>
            <a:ext cx="2566800" cy="3611520"/>
          </a:xfrm>
          <a:prstGeom prst="roundRect">
            <a:avLst>
              <a:gd name="adj" fmla="val 5343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aquete-path_provider-circulo"/>
          <p:cNvSpPr/>
          <p:nvPr/>
        </p:nvSpPr>
        <p:spPr>
          <a:xfrm>
            <a:off x="9347400" y="2103120"/>
            <a:ext cx="868320" cy="8683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0" name="paquete-path_provider-icono" descr="paquete-path_provider"/>
          <p:cNvPicPr/>
          <p:nvPr/>
        </p:nvPicPr>
        <p:blipFill>
          <a:blip r:embed="rId6"/>
          <a:stretch/>
        </p:blipFill>
        <p:spPr>
          <a:xfrm>
            <a:off x="9564480" y="2320200"/>
            <a:ext cx="434160" cy="43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aquete-nombre-path_provider"/>
          <p:cNvSpPr/>
          <p:nvPr/>
        </p:nvSpPr>
        <p:spPr>
          <a:xfrm>
            <a:off x="9347400" y="3200400"/>
            <a:ext cx="2018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path_provider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aquete-rol-path_provider"/>
          <p:cNvSpPr/>
          <p:nvPr/>
        </p:nvSpPr>
        <p:spPr>
          <a:xfrm>
            <a:off x="9347400" y="3547800"/>
            <a:ext cx="2018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Le da un lugar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aquete-desc-path_provider"/>
          <p:cNvSpPr/>
          <p:nvPr/>
        </p:nvSpPr>
        <p:spPr>
          <a:xfrm>
            <a:off x="9347400" y="4316040"/>
            <a:ext cx="20181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Indica en qué carpeta guardar el archivo.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aquetes-escudo-circulo"/>
          <p:cNvSpPr/>
          <p:nvPr/>
        </p:nvSpPr>
        <p:spPr>
          <a:xfrm>
            <a:off x="548640" y="5623560"/>
            <a:ext cx="456840" cy="45684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aquetes-escudo-icono" descr="paquetes-escudo"/>
          <p:cNvPicPr/>
          <p:nvPr/>
        </p:nvPicPr>
        <p:blipFill>
          <a:blip r:embed="rId7"/>
          <a:stretch/>
        </p:blipFill>
        <p:spPr>
          <a:xfrm>
            <a:off x="663120" y="573804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aquetes-nota"/>
          <p:cNvSpPr/>
          <p:nvPr/>
        </p:nvSpPr>
        <p:spPr>
          <a:xfrm>
            <a:off x="1143000" y="562356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Ninguno le pide al usuario permisos para leer sus fotos o archivos.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8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73DAA0-023E-4168-AAD8-E69D2499132D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4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CÓMO FUNCIONA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Un PDF se diseña como una pantalla de Flutter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20" name="tabla-comparacion"/>
          <p:cNvGraphicFramePr/>
          <p:nvPr/>
        </p:nvGraphicFramePr>
        <p:xfrm>
          <a:off x="548640" y="1783080"/>
          <a:ext cx="7314840" cy="35658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160">
                <a:tc>
                  <a:txBody>
                    <a:bodyPr/>
                    <a:lstStyle/>
                    <a:p>
                      <a:endParaRPr lang="en-US" sz="16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Pantalla de Flutter</a:t>
                      </a:r>
                      <a:endParaRPr lang="es-E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Documento PDF</a:t>
                      </a:r>
                      <a:endParaRPr lang="es-E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Dónde se ve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En la pantalla del celular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En un archivo que se guarda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Movimiento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 mueve y responde al toque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Es fijo, listo para imprimir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Tamaño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Scroll sin fin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Se reparte en páginas solo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1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Letras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Las del sistema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Lleva sus propias letras (tildes y ñ)</a:t>
                      </a:r>
                      <a:endParaRPr lang="es-E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137160" marR="137160" marT="0" marB="0" anchor="ctr">
                    <a:lnL w="9360">
                      <a:solidFill>
                        <a:srgbClr val="F2F4F8"/>
                      </a:solidFill>
                      <a:prstDash val="solid"/>
                    </a:lnL>
                    <a:lnR w="9360">
                      <a:solidFill>
                        <a:srgbClr val="F2F4F8"/>
                      </a:solidFill>
                      <a:prstDash val="solid"/>
                    </a:lnR>
                    <a:lnT w="9360">
                      <a:solidFill>
                        <a:srgbClr val="F2F4F8"/>
                      </a:solidFill>
                      <a:prstDash val="solid"/>
                    </a:lnT>
                    <a:lnB w="9360">
                      <a:solidFill>
                        <a:srgbClr val="F2F4F8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bloques-tarjeta"/>
          <p:cNvSpPr/>
          <p:nvPr/>
        </p:nvSpPr>
        <p:spPr>
          <a:xfrm>
            <a:off x="8183880" y="1783080"/>
            <a:ext cx="3456000" cy="3565800"/>
          </a:xfrm>
          <a:prstGeom prst="roundRect">
            <a:avLst>
              <a:gd name="adj" fmla="val 3968"/>
            </a:avLst>
          </a:prstGeom>
          <a:solidFill>
            <a:schemeClr val="accent1">
              <a:alpha val="18000"/>
            </a:schemeClr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bloques-circulo"/>
          <p:cNvSpPr/>
          <p:nvPr/>
        </p:nvSpPr>
        <p:spPr>
          <a:xfrm>
            <a:off x="8458200" y="205740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bloques-icono" descr="bloques"/>
          <p:cNvPicPr/>
          <p:nvPr/>
        </p:nvPicPr>
        <p:blipFill>
          <a:blip r:embed="rId3"/>
          <a:stretch/>
        </p:blipFill>
        <p:spPr>
          <a:xfrm>
            <a:off x="865260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bloques-titulo"/>
          <p:cNvSpPr/>
          <p:nvPr/>
        </p:nvSpPr>
        <p:spPr>
          <a:xfrm>
            <a:off x="8458200" y="30175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Los mismos bloques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bloques-texto"/>
          <p:cNvSpPr/>
          <p:nvPr/>
        </p:nvSpPr>
        <p:spPr>
          <a:xfrm>
            <a:off x="8458200" y="3520440"/>
            <a:ext cx="29257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Row, Column, Table y Text funcionan igual que en Flutter… pero el resultado es una hoja, no una pantalla.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comparacion-cierre"/>
          <p:cNvSpPr/>
          <p:nvPr/>
        </p:nvSpPr>
        <p:spPr>
          <a:xfrm>
            <a:off x="548640" y="562356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Por eso si ya sabes Flutter, ya sabes armar un PDF.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9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EDFEC-6ECA-46FC-B137-E1A3647E314D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5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CÓMO FUNCIONA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Del botón al menú Compartir en 4 pasos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compartir-paso-1"/>
          <p:cNvSpPr/>
          <p:nvPr/>
        </p:nvSpPr>
        <p:spPr>
          <a:xfrm>
            <a:off x="548640" y="1783080"/>
            <a:ext cx="2514240" cy="2697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compartir-icono-1-circulo"/>
          <p:cNvSpPr/>
          <p:nvPr/>
        </p:nvSpPr>
        <p:spPr>
          <a:xfrm>
            <a:off x="822960" y="2057400"/>
            <a:ext cx="776880" cy="7768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compartir-icono-1-icono" descr="compartir-icono-1"/>
          <p:cNvPicPr/>
          <p:nvPr/>
        </p:nvPicPr>
        <p:blipFill>
          <a:blip r:embed="rId3"/>
          <a:stretch/>
        </p:blipFill>
        <p:spPr>
          <a:xfrm>
            <a:off x="101736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compartir-titulo-1"/>
          <p:cNvSpPr/>
          <p:nvPr/>
        </p:nvSpPr>
        <p:spPr>
          <a:xfrm>
            <a:off x="822960" y="299916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1. Crear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ompartir-desc-1"/>
          <p:cNvSpPr/>
          <p:nvPr/>
        </p:nvSpPr>
        <p:spPr>
          <a:xfrm>
            <a:off x="822960" y="3474720"/>
            <a:ext cx="2057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La app arma el PDF en la memoria del celular.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ompartir-flecha-1"/>
          <p:cNvSpPr/>
          <p:nvPr/>
        </p:nvSpPr>
        <p:spPr>
          <a:xfrm>
            <a:off x="3134880" y="29718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compartir-paso-2"/>
          <p:cNvSpPr/>
          <p:nvPr/>
        </p:nvSpPr>
        <p:spPr>
          <a:xfrm>
            <a:off x="3407760" y="1783080"/>
            <a:ext cx="2514240" cy="2697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compartir-icono-2-circulo"/>
          <p:cNvSpPr/>
          <p:nvPr/>
        </p:nvSpPr>
        <p:spPr>
          <a:xfrm>
            <a:off x="3682080" y="2057400"/>
            <a:ext cx="776880" cy="7768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compartir-icono-2-icono" descr="compartir-icono-2"/>
          <p:cNvPicPr/>
          <p:nvPr/>
        </p:nvPicPr>
        <p:blipFill>
          <a:blip r:embed="rId4"/>
          <a:stretch/>
        </p:blipFill>
        <p:spPr>
          <a:xfrm>
            <a:off x="387612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compartir-titulo-2"/>
          <p:cNvSpPr/>
          <p:nvPr/>
        </p:nvSpPr>
        <p:spPr>
          <a:xfrm>
            <a:off x="3682080" y="299916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2. Guardar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compartir-desc-2"/>
          <p:cNvSpPr/>
          <p:nvPr/>
        </p:nvSpPr>
        <p:spPr>
          <a:xfrm>
            <a:off x="3682080" y="3474720"/>
            <a:ext cx="2057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Lo deja en una carpeta temporal de la app.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compartir-flecha-2"/>
          <p:cNvSpPr/>
          <p:nvPr/>
        </p:nvSpPr>
        <p:spPr>
          <a:xfrm>
            <a:off x="5994000" y="29718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compartir-paso-3"/>
          <p:cNvSpPr/>
          <p:nvPr/>
        </p:nvSpPr>
        <p:spPr>
          <a:xfrm>
            <a:off x="6266520" y="1783080"/>
            <a:ext cx="2514240" cy="2697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compartir-icono-3-circulo"/>
          <p:cNvSpPr/>
          <p:nvPr/>
        </p:nvSpPr>
        <p:spPr>
          <a:xfrm>
            <a:off x="6540840" y="2057400"/>
            <a:ext cx="776880" cy="7768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compartir-icono-3-icono" descr="compartir-icono-3"/>
          <p:cNvPicPr/>
          <p:nvPr/>
        </p:nvPicPr>
        <p:blipFill>
          <a:blip r:embed="rId5"/>
          <a:stretch/>
        </p:blipFill>
        <p:spPr>
          <a:xfrm>
            <a:off x="673524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compartir-titulo-3"/>
          <p:cNvSpPr/>
          <p:nvPr/>
        </p:nvSpPr>
        <p:spPr>
          <a:xfrm>
            <a:off x="6540840" y="299916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3. Pedir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compartir-desc-3"/>
          <p:cNvSpPr/>
          <p:nvPr/>
        </p:nvSpPr>
        <p:spPr>
          <a:xfrm>
            <a:off x="6540840" y="3474720"/>
            <a:ext cx="2057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Le pide al sistema que abra el menú Compartir.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compartir-flecha-3"/>
          <p:cNvSpPr/>
          <p:nvPr/>
        </p:nvSpPr>
        <p:spPr>
          <a:xfrm>
            <a:off x="8852760" y="29718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compartir-paso-4"/>
          <p:cNvSpPr/>
          <p:nvPr/>
        </p:nvSpPr>
        <p:spPr>
          <a:xfrm>
            <a:off x="9125640" y="1783080"/>
            <a:ext cx="2514240" cy="26971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compartir-icono-4-circulo"/>
          <p:cNvSpPr/>
          <p:nvPr/>
        </p:nvSpPr>
        <p:spPr>
          <a:xfrm>
            <a:off x="9399960" y="205740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0" name="compartir-icono-4-icono" descr="compartir-icono-4"/>
          <p:cNvPicPr/>
          <p:nvPr/>
        </p:nvPicPr>
        <p:blipFill>
          <a:blip r:embed="rId6"/>
          <a:stretch/>
        </p:blipFill>
        <p:spPr>
          <a:xfrm>
            <a:off x="959436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compartir-titulo-4"/>
          <p:cNvSpPr/>
          <p:nvPr/>
        </p:nvSpPr>
        <p:spPr>
          <a:xfrm>
            <a:off x="9399960" y="2999160"/>
            <a:ext cx="2057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4. Elegir</a:t>
            </a:r>
            <a:endParaRPr lang="es-E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compartir-desc-4"/>
          <p:cNvSpPr/>
          <p:nvPr/>
        </p:nvSpPr>
        <p:spPr>
          <a:xfrm>
            <a:off x="9399960" y="3474720"/>
            <a:ext cx="20570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La persona escoge WhatsApp, Gmail o Drive.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taforma-Android"/>
          <p:cNvSpPr/>
          <p:nvPr/>
        </p:nvSpPr>
        <p:spPr>
          <a:xfrm>
            <a:off x="548640" y="4709160"/>
            <a:ext cx="5408280" cy="123408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taforma-icono-Android-circulo"/>
          <p:cNvSpPr/>
          <p:nvPr/>
        </p:nvSpPr>
        <p:spPr>
          <a:xfrm>
            <a:off x="822960" y="4983480"/>
            <a:ext cx="685440" cy="68544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plataforma-icono-Android-icono" descr="plataforma-icono-Android"/>
          <p:cNvPicPr/>
          <p:nvPr/>
        </p:nvPicPr>
        <p:blipFill>
          <a:blip r:embed="rId7"/>
          <a:stretch/>
        </p:blipFill>
        <p:spPr>
          <a:xfrm>
            <a:off x="994320" y="51548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taforma-texto-Android"/>
          <p:cNvSpPr/>
          <p:nvPr/>
        </p:nvSpPr>
        <p:spPr>
          <a:xfrm>
            <a:off x="1737360" y="4800600"/>
            <a:ext cx="406872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Android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Entrega el archivo con un permiso temporal: no pide acceso a tus fotos ni archivos.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taforma-iPhone"/>
          <p:cNvSpPr/>
          <p:nvPr/>
        </p:nvSpPr>
        <p:spPr>
          <a:xfrm>
            <a:off x="6231600" y="4709160"/>
            <a:ext cx="5408280" cy="123408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5875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taforma-icono-iPhone-circulo"/>
          <p:cNvSpPr/>
          <p:nvPr/>
        </p:nvSpPr>
        <p:spPr>
          <a:xfrm>
            <a:off x="6505920" y="4983480"/>
            <a:ext cx="685440" cy="68544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lataforma-icono-iPhone-icono" descr="plataforma-icono-iPhone"/>
          <p:cNvPicPr/>
          <p:nvPr/>
        </p:nvPicPr>
        <p:blipFill>
          <a:blip r:embed="rId8"/>
          <a:stretch/>
        </p:blipFill>
        <p:spPr>
          <a:xfrm>
            <a:off x="6677280" y="515484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plataforma-texto-iPhone"/>
          <p:cNvSpPr/>
          <p:nvPr/>
        </p:nvSpPr>
        <p:spPr>
          <a:xfrm>
            <a:off x="7420320" y="4800600"/>
            <a:ext cx="406872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iPhone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Usa la hoja de compartir propia de iOS. En iPad aparece junto al botón.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0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A903D0-2EA2-422E-89E3-803CB51E5DA4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6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CONFIGURACIÓN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Listo en tres pasos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config-paso-1"/>
          <p:cNvSpPr/>
          <p:nvPr/>
        </p:nvSpPr>
        <p:spPr>
          <a:xfrm>
            <a:off x="548640" y="1783080"/>
            <a:ext cx="7086240" cy="123408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config-numero-1"/>
          <p:cNvSpPr/>
          <p:nvPr/>
        </p:nvSpPr>
        <p:spPr>
          <a:xfrm>
            <a:off x="822960" y="205740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config-numero-1-num"/>
          <p:cNvSpPr/>
          <p:nvPr/>
        </p:nvSpPr>
        <p:spPr>
          <a:xfrm>
            <a:off x="822960" y="205740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onfig-titulo-1"/>
          <p:cNvSpPr/>
          <p:nvPr/>
        </p:nvSpPr>
        <p:spPr>
          <a:xfrm>
            <a:off x="1783080" y="193860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Agregar los paquetes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config-codigo-fondo"/>
          <p:cNvSpPr/>
          <p:nvPr/>
        </p:nvSpPr>
        <p:spPr>
          <a:xfrm>
            <a:off x="1783080" y="2386440"/>
            <a:ext cx="5668920" cy="45684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B8C2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config-codigo"/>
          <p:cNvSpPr/>
          <p:nvPr/>
        </p:nvSpPr>
        <p:spPr>
          <a:xfrm>
            <a:off x="1901880" y="23864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flutter pub add pdf printing share_plus path_provider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config-paso-2"/>
          <p:cNvSpPr/>
          <p:nvPr/>
        </p:nvSpPr>
        <p:spPr>
          <a:xfrm>
            <a:off x="548640" y="3200400"/>
            <a:ext cx="7086240" cy="123408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config-numero-2"/>
          <p:cNvSpPr/>
          <p:nvPr/>
        </p:nvSpPr>
        <p:spPr>
          <a:xfrm>
            <a:off x="822960" y="347472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config-numero-2-num"/>
          <p:cNvSpPr/>
          <p:nvPr/>
        </p:nvSpPr>
        <p:spPr>
          <a:xfrm>
            <a:off x="822960" y="34747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config-titulo-2"/>
          <p:cNvSpPr/>
          <p:nvPr/>
        </p:nvSpPr>
        <p:spPr>
          <a:xfrm>
            <a:off x="1783080" y="335592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Agregar una fuente con tildes y ñ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config-desc-2"/>
          <p:cNvSpPr/>
          <p:nvPr/>
        </p:nvSpPr>
        <p:spPr>
          <a:xfrm>
            <a:off x="1783080" y="3767400"/>
            <a:ext cx="5668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Copiamos Noto Sans al proyecto y la usamos en la app y en el PDF.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config-paso-3"/>
          <p:cNvSpPr/>
          <p:nvPr/>
        </p:nvSpPr>
        <p:spPr>
          <a:xfrm>
            <a:off x="548640" y="4617720"/>
            <a:ext cx="7086240" cy="123408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config-numero-3"/>
          <p:cNvSpPr/>
          <p:nvPr/>
        </p:nvSpPr>
        <p:spPr>
          <a:xfrm>
            <a:off x="822960" y="489204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config-numero-3-num"/>
          <p:cNvSpPr/>
          <p:nvPr/>
        </p:nvSpPr>
        <p:spPr>
          <a:xfrm>
            <a:off x="822960" y="48920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E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config-titulo-3"/>
          <p:cNvSpPr/>
          <p:nvPr/>
        </p:nvSpPr>
        <p:spPr>
          <a:xfrm>
            <a:off x="1783080" y="4773240"/>
            <a:ext cx="5668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Android 11 o superior</a:t>
            </a:r>
            <a:endParaRPr lang="es-E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onfig-desc-3"/>
          <p:cNvSpPr/>
          <p:nvPr/>
        </p:nvSpPr>
        <p:spPr>
          <a:xfrm>
            <a:off x="1783080" y="5184720"/>
            <a:ext cx="5668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Declarar en el manifiesto qué apps pueden recibir el PDF. En iPhone no hace falta nada.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aviso-tarjeta"/>
          <p:cNvSpPr/>
          <p:nvPr/>
        </p:nvSpPr>
        <p:spPr>
          <a:xfrm>
            <a:off x="7955280" y="1783080"/>
            <a:ext cx="3684600" cy="4068720"/>
          </a:xfrm>
          <a:prstGeom prst="roundRect">
            <a:avLst>
              <a:gd name="adj" fmla="val 3722"/>
            </a:avLst>
          </a:prstGeom>
          <a:solidFill>
            <a:schemeClr val="accent1">
              <a:alpha val="18000"/>
            </a:schemeClr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aviso-circulo"/>
          <p:cNvSpPr/>
          <p:nvPr/>
        </p:nvSpPr>
        <p:spPr>
          <a:xfrm>
            <a:off x="8229600" y="205740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aviso-icono" descr="aviso"/>
          <p:cNvPicPr/>
          <p:nvPr/>
        </p:nvPicPr>
        <p:blipFill>
          <a:blip r:embed="rId3"/>
          <a:stretch/>
        </p:blipFill>
        <p:spPr>
          <a:xfrm>
            <a:off x="842400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aviso-titulo"/>
          <p:cNvSpPr/>
          <p:nvPr/>
        </p:nvSpPr>
        <p:spPr>
          <a:xfrm>
            <a:off x="8229600" y="2971800"/>
            <a:ext cx="32000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Cuidado con los tutoriales viejos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aviso-texto"/>
          <p:cNvSpPr/>
          <p:nvPr/>
        </p:nvSpPr>
        <p:spPr>
          <a:xfrm>
            <a:off x="8229600" y="3749040"/>
            <a:ext cx="3200040" cy="196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Share.shareXFiles() ya no se usa. Ahora es: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2"/>
                </a:solidFill>
                <a:effectLst/>
                <a:uFillTx/>
                <a:latin typeface="Courier New"/>
                <a:ea typeface="Courier New"/>
              </a:rPr>
              <a:t>SharePlus.instance.share()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ourier New"/>
              </a:rPr>
              <a:t> </a:t>
            </a:r>
            <a:endParaRPr lang="es-E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ourier New"/>
              </a:rPr>
              <a:t>Y si agregas un paquete nuevo, reinicia la app completa: el hot reload no basta.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1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534FBF-2E43-49FB-B78F-B769D392E8BB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7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DEMO EN VIVO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Veámoslo funcionando</a:t>
            </a:r>
            <a:endParaRPr lang="es-E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demo-paso-1"/>
          <p:cNvSpPr/>
          <p:nvPr/>
        </p:nvSpPr>
        <p:spPr>
          <a:xfrm>
            <a:off x="548640" y="196596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demo-paso-1-num"/>
          <p:cNvSpPr/>
          <p:nvPr/>
        </p:nvSpPr>
        <p:spPr>
          <a:xfrm>
            <a:off x="548640" y="196596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demo-texto-1"/>
          <p:cNvSpPr/>
          <p:nvPr/>
        </p:nvSpPr>
        <p:spPr>
          <a:xfrm>
            <a:off x="1417320" y="196596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Generar el análisis con IA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demo-paso-2"/>
          <p:cNvSpPr/>
          <p:nvPr/>
        </p:nvSpPr>
        <p:spPr>
          <a:xfrm>
            <a:off x="548640" y="292608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demo-paso-2-num"/>
          <p:cNvSpPr/>
          <p:nvPr/>
        </p:nvSpPr>
        <p:spPr>
          <a:xfrm>
            <a:off x="548640" y="292608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demo-texto-2"/>
          <p:cNvSpPr/>
          <p:nvPr/>
        </p:nvSpPr>
        <p:spPr>
          <a:xfrm>
            <a:off x="1417320" y="292608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Ver el PDF y guardarlo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demo-paso-3"/>
          <p:cNvSpPr/>
          <p:nvPr/>
        </p:nvSpPr>
        <p:spPr>
          <a:xfrm>
            <a:off x="548640" y="388620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demo-paso-3-num"/>
          <p:cNvSpPr/>
          <p:nvPr/>
        </p:nvSpPr>
        <p:spPr>
          <a:xfrm>
            <a:off x="548640" y="38862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demo-texto-3"/>
          <p:cNvSpPr/>
          <p:nvPr/>
        </p:nvSpPr>
        <p:spPr>
          <a:xfrm>
            <a:off x="1417320" y="388620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Compartirlo por Gmail o WhatsApp</a:t>
            </a:r>
            <a:endParaRPr lang="es-ES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demo-extra"/>
          <p:cNvSpPr/>
          <p:nvPr/>
        </p:nvSpPr>
        <p:spPr>
          <a:xfrm>
            <a:off x="548640" y="4983480"/>
            <a:ext cx="5760360" cy="91404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 w="12700">
            <a:solidFill>
              <a:srgbClr val="2D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demo-codigo-circulo"/>
          <p:cNvSpPr/>
          <p:nvPr/>
        </p:nvSpPr>
        <p:spPr>
          <a:xfrm>
            <a:off x="777240" y="516636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9" name="demo-codigo-icono" descr="demo-codigo"/>
          <p:cNvPicPr/>
          <p:nvPr/>
        </p:nvPicPr>
        <p:blipFill>
          <a:blip r:embed="rId3"/>
          <a:stretch/>
        </p:blipFill>
        <p:spPr>
          <a:xfrm>
            <a:off x="914400" y="530352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0" name="demo-extra-texto"/>
          <p:cNvSpPr/>
          <p:nvPr/>
        </p:nvSpPr>
        <p:spPr>
          <a:xfrm>
            <a:off x="1508760" y="4983480"/>
            <a:ext cx="46630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Cambio en vivo: 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agregar la marca de agua «Generado con IA».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demo-marco-1"/>
          <p:cNvSpPr/>
          <p:nvPr/>
        </p:nvSpPr>
        <p:spPr>
          <a:xfrm>
            <a:off x="6903720" y="1600200"/>
            <a:ext cx="2194200" cy="45716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blurRad="127080" dist="38160" dir="5400000" algn="bl" rotWithShape="0">
              <a:srgbClr val="1C2333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demo-captura-1" descr="Pantalla de inicio de la app"/>
          <p:cNvPicPr/>
          <p:nvPr/>
        </p:nvPicPr>
        <p:blipFill>
          <a:blip r:embed="rId4"/>
          <a:stretch/>
        </p:blipFill>
        <p:spPr>
          <a:xfrm>
            <a:off x="6976800" y="1673280"/>
            <a:ext cx="2048040" cy="442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demo-marco-2"/>
          <p:cNvSpPr/>
          <p:nvPr/>
        </p:nvSpPr>
        <p:spPr>
          <a:xfrm>
            <a:off x="9326880" y="1600200"/>
            <a:ext cx="2194200" cy="45716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rgbClr val="FFFFFF"/>
            </a:solidFill>
            <a:round/>
          </a:ln>
          <a:effectLst>
            <a:outerShdw blurRad="127080" dist="38160" dir="5400000" algn="bl" rotWithShape="0">
              <a:srgbClr val="1C2333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demo-captura-2" descr="Reporte generado por la IA en la app"/>
          <p:cNvPicPr/>
          <p:nvPr/>
        </p:nvPicPr>
        <p:blipFill>
          <a:blip r:embed="rId5"/>
          <a:stretch/>
        </p:blipFill>
        <p:spPr>
          <a:xfrm>
            <a:off x="9399960" y="1673280"/>
            <a:ext cx="2048040" cy="442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PlaceHolder 3"/>
          <p:cNvSpPr>
            <a:spLocks noGrp="1"/>
          </p:cNvSpPr>
          <p:nvPr>
            <p:ph type="sldNum" idx="12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B8C2D9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D34187-06BA-4577-8374-35B9B403BF8F}" type="slidenum">
              <a:rPr lang="en-US" sz="1000" b="0" u="none" strike="noStrike">
                <a:solidFill>
                  <a:srgbClr val="B8C2D9"/>
                </a:solidFill>
                <a:effectLst/>
                <a:uFillTx/>
                <a:latin typeface="Calibri"/>
              </a:rPr>
              <a:t>8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EL RESULTADO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Un reporte profesional, hecho en el celular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8" name="resultado-pagina-1" descr="Portada e indicadores"/>
          <p:cNvPicPr/>
          <p:nvPr/>
        </p:nvPicPr>
        <p:blipFill>
          <a:blip r:embed="rId3"/>
          <a:stretch/>
        </p:blipFill>
        <p:spPr>
          <a:xfrm>
            <a:off x="548640" y="1783080"/>
            <a:ext cx="2550960" cy="36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resultado-borde-1"/>
          <p:cNvSpPr/>
          <p:nvPr/>
        </p:nvSpPr>
        <p:spPr>
          <a:xfrm>
            <a:off x="548640" y="1783080"/>
            <a:ext cx="2550960" cy="3611520"/>
          </a:xfrm>
          <a:prstGeom prst="rect">
            <a:avLst/>
          </a:prstGeom>
          <a:noFill/>
          <a:ln w="9525">
            <a:solidFill>
              <a:srgbClr val="B8C2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sultado-pie-1"/>
          <p:cNvSpPr/>
          <p:nvPr/>
        </p:nvSpPr>
        <p:spPr>
          <a:xfrm>
            <a:off x="548640" y="5532120"/>
            <a:ext cx="2550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Portada e indicadores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1" name="resultado-pagina-2" descr="Hallazgos y recomendaciones"/>
          <p:cNvPicPr/>
          <p:nvPr/>
        </p:nvPicPr>
        <p:blipFill>
          <a:blip r:embed="rId4"/>
          <a:stretch/>
        </p:blipFill>
        <p:spPr>
          <a:xfrm>
            <a:off x="3374280" y="1783080"/>
            <a:ext cx="2550960" cy="36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resultado-borde-2"/>
          <p:cNvSpPr/>
          <p:nvPr/>
        </p:nvSpPr>
        <p:spPr>
          <a:xfrm>
            <a:off x="3374280" y="1783080"/>
            <a:ext cx="2550960" cy="3611520"/>
          </a:xfrm>
          <a:prstGeom prst="rect">
            <a:avLst/>
          </a:prstGeom>
          <a:noFill/>
          <a:ln w="9525">
            <a:solidFill>
              <a:srgbClr val="B8C2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sultado-pie-2"/>
          <p:cNvSpPr/>
          <p:nvPr/>
        </p:nvSpPr>
        <p:spPr>
          <a:xfrm>
            <a:off x="3374280" y="5532120"/>
            <a:ext cx="2550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Hallazgos y recomendaciones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4" name="resultado-pagina-3" descr="Anexo de varias páginas"/>
          <p:cNvPicPr/>
          <p:nvPr/>
        </p:nvPicPr>
        <p:blipFill>
          <a:blip r:embed="rId5"/>
          <a:stretch/>
        </p:blipFill>
        <p:spPr>
          <a:xfrm>
            <a:off x="6199560" y="1783080"/>
            <a:ext cx="2550960" cy="361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resultado-borde-3"/>
          <p:cNvSpPr/>
          <p:nvPr/>
        </p:nvSpPr>
        <p:spPr>
          <a:xfrm>
            <a:off x="6199560" y="1783080"/>
            <a:ext cx="2550960" cy="3611520"/>
          </a:xfrm>
          <a:prstGeom prst="rect">
            <a:avLst/>
          </a:prstGeom>
          <a:noFill/>
          <a:ln w="9525">
            <a:solidFill>
              <a:srgbClr val="B8C2D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sultado-pie-3"/>
          <p:cNvSpPr/>
          <p:nvPr/>
        </p:nvSpPr>
        <p:spPr>
          <a:xfrm>
            <a:off x="6199560" y="5532120"/>
            <a:ext cx="2550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Anexo de varias páginas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sultado-dato-1"/>
          <p:cNvSpPr/>
          <p:nvPr/>
        </p:nvSpPr>
        <p:spPr>
          <a:xfrm>
            <a:off x="9189720" y="1783080"/>
            <a:ext cx="2450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accent1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sultado-label-1"/>
          <p:cNvSpPr/>
          <p:nvPr/>
        </p:nvSpPr>
        <p:spPr>
          <a:xfrm>
            <a:off x="9189720" y="246888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páginas con encabezado, pie y numeración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sultado-dato-2"/>
          <p:cNvSpPr/>
          <p:nvPr/>
        </p:nvSpPr>
        <p:spPr>
          <a:xfrm>
            <a:off x="9189720" y="3063240"/>
            <a:ext cx="2450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45 KB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sultado-label-2"/>
          <p:cNvSpPr/>
          <p:nvPr/>
        </p:nvSpPr>
        <p:spPr>
          <a:xfrm>
            <a:off x="9189720" y="374904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pesa el archivo completo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sultado-dato-3"/>
          <p:cNvSpPr/>
          <p:nvPr/>
        </p:nvSpPr>
        <p:spPr>
          <a:xfrm>
            <a:off x="9189720" y="4343400"/>
            <a:ext cx="2450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0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sultado-label-3"/>
          <p:cNvSpPr/>
          <p:nvPr/>
        </p:nvSpPr>
        <p:spPr>
          <a:xfrm>
            <a:off x="9189720" y="502920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permisos de almacenamiento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3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FBFC25-5CE5-4A70-9DC2-47A6B5241311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9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DECISIÓN DE DISEÑO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¿Crear el PDF en el celular o en el servidor?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lugar-1"/>
          <p:cNvSpPr/>
          <p:nvPr/>
        </p:nvSpPr>
        <p:spPr>
          <a:xfrm>
            <a:off x="548640" y="1783080"/>
            <a:ext cx="5408280" cy="3245760"/>
          </a:xfrm>
          <a:prstGeom prst="roundRect">
            <a:avLst>
              <a:gd name="adj" fmla="val 4225"/>
            </a:avLst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  <a:effectLst>
            <a:outerShdw blurRad="127080" dist="38160" dir="5400000" algn="bl" rotWithShape="0">
              <a:srgbClr val="1C2333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lugar-icono-1-circulo"/>
          <p:cNvSpPr/>
          <p:nvPr/>
        </p:nvSpPr>
        <p:spPr>
          <a:xfrm>
            <a:off x="868680" y="2057400"/>
            <a:ext cx="776880" cy="7768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lugar-icono-1-icono" descr="lugar-icono-1"/>
          <p:cNvPicPr/>
          <p:nvPr/>
        </p:nvPicPr>
        <p:blipFill>
          <a:blip r:embed="rId3"/>
          <a:stretch/>
        </p:blipFill>
        <p:spPr>
          <a:xfrm>
            <a:off x="106308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lugar-titulo-1"/>
          <p:cNvSpPr/>
          <p:nvPr/>
        </p:nvSpPr>
        <p:spPr>
          <a:xfrm>
            <a:off x="1828800" y="205740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En el celular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lugar-lista-1"/>
          <p:cNvSpPr/>
          <p:nvPr/>
        </p:nvSpPr>
        <p:spPr>
          <a:xfrm>
            <a:off x="914400" y="306324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Funciona sin internet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No cuesta servidor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Los datos no salen del teléfono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Es instantáneo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lugar-2"/>
          <p:cNvSpPr/>
          <p:nvPr/>
        </p:nvSpPr>
        <p:spPr>
          <a:xfrm>
            <a:off x="6231600" y="1783080"/>
            <a:ext cx="5408280" cy="3245760"/>
          </a:xfrm>
          <a:prstGeom prst="roundRect">
            <a:avLst>
              <a:gd name="adj" fmla="val 4225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lugar-icono-2-circulo"/>
          <p:cNvSpPr/>
          <p:nvPr/>
        </p:nvSpPr>
        <p:spPr>
          <a:xfrm>
            <a:off x="6551640" y="2057400"/>
            <a:ext cx="776880" cy="77688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lugar-icono-2-icono" descr="lugar-icono-2"/>
          <p:cNvPicPr/>
          <p:nvPr/>
        </p:nvPicPr>
        <p:blipFill>
          <a:blip r:embed="rId4"/>
          <a:stretch/>
        </p:blipFill>
        <p:spPr>
          <a:xfrm>
            <a:off x="6746040" y="2251800"/>
            <a:ext cx="388440" cy="38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lugar-titulo-2"/>
          <p:cNvSpPr/>
          <p:nvPr/>
        </p:nvSpPr>
        <p:spPr>
          <a:xfrm>
            <a:off x="7511760" y="2057400"/>
            <a:ext cx="3931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En el servidor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lugar-lista-2"/>
          <p:cNvSpPr/>
          <p:nvPr/>
        </p:nvSpPr>
        <p:spPr>
          <a:xfrm>
            <a:off x="6597360" y="3063240"/>
            <a:ext cx="475452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Documentos enormes (cientos de páginas)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Firmas digitales y plantillas oficiales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C2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mismo diseño para web, app y correo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gla-tarjeta"/>
          <p:cNvSpPr/>
          <p:nvPr/>
        </p:nvSpPr>
        <p:spPr>
          <a:xfrm>
            <a:off x="548640" y="5212080"/>
            <a:ext cx="11091240" cy="776880"/>
          </a:xfrm>
          <a:prstGeom prst="roundRect">
            <a:avLst>
              <a:gd name="adj" fmla="val 14118"/>
            </a:avLst>
          </a:prstGeom>
          <a:solidFill>
            <a:schemeClr val="accent1">
              <a:alpha val="18000"/>
            </a:schemeClr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regla-circulo"/>
          <p:cNvSpPr/>
          <p:nvPr/>
        </p:nvSpPr>
        <p:spPr>
          <a:xfrm>
            <a:off x="731520" y="5321880"/>
            <a:ext cx="548280" cy="54828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" name="regla-icono" descr="regla"/>
          <p:cNvPicPr/>
          <p:nvPr/>
        </p:nvPicPr>
        <p:blipFill>
          <a:blip r:embed="rId5"/>
          <a:stretch/>
        </p:blipFill>
        <p:spPr>
          <a:xfrm>
            <a:off x="868680" y="54590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" name="regla-texto"/>
          <p:cNvSpPr/>
          <p:nvPr/>
        </p:nvSpPr>
        <p:spPr>
          <a:xfrm>
            <a:off x="1463040" y="5212080"/>
            <a:ext cx="99666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Nuestra regla: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 reporte personal y en el momento → celular. Algo masivo u oficial → servidor.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4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182C1-D306-40AC-8D89-BB246E2A08C3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10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RELEVANCIA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2"/>
                </a:solidFill>
                <a:effectLst/>
                <a:uFillTx/>
                <a:latin typeface="Cambria"/>
              </a:rPr>
              <a:t>Del prompt al documento: así encaja la IA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ia-paso-1-circulo"/>
          <p:cNvSpPr/>
          <p:nvPr/>
        </p:nvSpPr>
        <p:spPr>
          <a:xfrm>
            <a:off x="1292040" y="1737360"/>
            <a:ext cx="731160" cy="7311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4" name="ia-paso-1-icono" descr="ia-paso-1"/>
          <p:cNvPicPr/>
          <p:nvPr/>
        </p:nvPicPr>
        <p:blipFill>
          <a:blip r:embed="rId3"/>
          <a:stretch/>
        </p:blipFill>
        <p:spPr>
          <a:xfrm>
            <a:off x="1474920" y="19202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5" name="ia-flecha-1"/>
          <p:cNvSpPr/>
          <p:nvPr/>
        </p:nvSpPr>
        <p:spPr>
          <a:xfrm>
            <a:off x="2666520" y="19386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ia-titulo-1"/>
          <p:cNvSpPr/>
          <p:nvPr/>
        </p:nvSpPr>
        <p:spPr>
          <a:xfrm>
            <a:off x="548640" y="256032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Prompt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ia-desc-1"/>
          <p:cNvSpPr/>
          <p:nvPr/>
        </p:nvSpPr>
        <p:spPr>
          <a:xfrm>
            <a:off x="640080" y="2880360"/>
            <a:ext cx="2035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Le pedimos el análisis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ia-paso-2-circulo"/>
          <p:cNvSpPr/>
          <p:nvPr/>
        </p:nvSpPr>
        <p:spPr>
          <a:xfrm>
            <a:off x="3510360" y="1737360"/>
            <a:ext cx="731160" cy="7311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9" name="ia-paso-2-icono" descr="ia-paso-2"/>
          <p:cNvPicPr/>
          <p:nvPr/>
        </p:nvPicPr>
        <p:blipFill>
          <a:blip r:embed="rId4"/>
          <a:stretch/>
        </p:blipFill>
        <p:spPr>
          <a:xfrm>
            <a:off x="3693240" y="19202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0" name="ia-flecha-2"/>
          <p:cNvSpPr/>
          <p:nvPr/>
        </p:nvSpPr>
        <p:spPr>
          <a:xfrm>
            <a:off x="4884840" y="19386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ia-titulo-2"/>
          <p:cNvSpPr/>
          <p:nvPr/>
        </p:nvSpPr>
        <p:spPr>
          <a:xfrm>
            <a:off x="2766960" y="256032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La IA responde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ia-desc-2"/>
          <p:cNvSpPr/>
          <p:nvPr/>
        </p:nvSpPr>
        <p:spPr>
          <a:xfrm>
            <a:off x="2858400" y="2880360"/>
            <a:ext cx="2035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 datos ordenados (JSON)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ia-paso-3-circulo"/>
          <p:cNvSpPr/>
          <p:nvPr/>
        </p:nvSpPr>
        <p:spPr>
          <a:xfrm>
            <a:off x="5728680" y="1737360"/>
            <a:ext cx="731160" cy="7311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a-paso-3-icono" descr="ia-paso-3"/>
          <p:cNvPicPr/>
          <p:nvPr/>
        </p:nvPicPr>
        <p:blipFill>
          <a:blip r:embed="rId5"/>
          <a:stretch/>
        </p:blipFill>
        <p:spPr>
          <a:xfrm>
            <a:off x="5911560" y="19202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ia-flecha-3"/>
          <p:cNvSpPr/>
          <p:nvPr/>
        </p:nvSpPr>
        <p:spPr>
          <a:xfrm>
            <a:off x="7103160" y="19386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ia-titulo-3"/>
          <p:cNvSpPr/>
          <p:nvPr/>
        </p:nvSpPr>
        <p:spPr>
          <a:xfrm>
            <a:off x="4985280" y="256032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La app revisa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ia-desc-3"/>
          <p:cNvSpPr/>
          <p:nvPr/>
        </p:nvSpPr>
        <p:spPr>
          <a:xfrm>
            <a:off x="5076720" y="2880360"/>
            <a:ext cx="2035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que no falte nada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ia-paso-4-circulo"/>
          <p:cNvSpPr/>
          <p:nvPr/>
        </p:nvSpPr>
        <p:spPr>
          <a:xfrm>
            <a:off x="7947000" y="1737360"/>
            <a:ext cx="731160" cy="7311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9" name="ia-paso-4-icono" descr="ia-paso-4"/>
          <p:cNvPicPr/>
          <p:nvPr/>
        </p:nvPicPr>
        <p:blipFill>
          <a:blip r:embed="rId6"/>
          <a:stretch/>
        </p:blipFill>
        <p:spPr>
          <a:xfrm>
            <a:off x="8129880" y="19202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ia-flecha-4"/>
          <p:cNvSpPr/>
          <p:nvPr/>
        </p:nvSpPr>
        <p:spPr>
          <a:xfrm>
            <a:off x="9321480" y="1938600"/>
            <a:ext cx="200880" cy="328680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ia-titulo-4"/>
          <p:cNvSpPr/>
          <p:nvPr/>
        </p:nvSpPr>
        <p:spPr>
          <a:xfrm>
            <a:off x="7203600" y="256032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Se arma el PDF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ia-desc-4"/>
          <p:cNvSpPr/>
          <p:nvPr/>
        </p:nvSpPr>
        <p:spPr>
          <a:xfrm>
            <a:off x="7295040" y="2880360"/>
            <a:ext cx="2035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 aviso y QR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ia-paso-5-circulo"/>
          <p:cNvSpPr/>
          <p:nvPr/>
        </p:nvSpPr>
        <p:spPr>
          <a:xfrm>
            <a:off x="10165320" y="1737360"/>
            <a:ext cx="731160" cy="73116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a-paso-5-icono" descr="ia-paso-5"/>
          <p:cNvPicPr/>
          <p:nvPr/>
        </p:nvPicPr>
        <p:blipFill>
          <a:blip r:embed="rId7"/>
          <a:stretch/>
        </p:blipFill>
        <p:spPr>
          <a:xfrm>
            <a:off x="10348200" y="192024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ia-titulo-5"/>
          <p:cNvSpPr/>
          <p:nvPr/>
        </p:nvSpPr>
        <p:spPr>
          <a:xfrm>
            <a:off x="9421920" y="2560320"/>
            <a:ext cx="2217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Se comparte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ia-desc-5"/>
          <p:cNvSpPr/>
          <p:nvPr/>
        </p:nvSpPr>
        <p:spPr>
          <a:xfrm>
            <a:off x="9513360" y="2880360"/>
            <a:ext cx="2035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con quien lo necesita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caso-Salud"/>
          <p:cNvSpPr/>
          <p:nvPr/>
        </p:nvSpPr>
        <p:spPr>
          <a:xfrm>
            <a:off x="548640" y="3611880"/>
            <a:ext cx="3513960" cy="1691280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caso-icono-Salud-circulo"/>
          <p:cNvSpPr/>
          <p:nvPr/>
        </p:nvSpPr>
        <p:spPr>
          <a:xfrm>
            <a:off x="822960" y="388620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caso-icono-Salud-icono" descr="caso-icono-Salud"/>
          <p:cNvPicPr/>
          <p:nvPr/>
        </p:nvPicPr>
        <p:blipFill>
          <a:blip r:embed="rId8"/>
          <a:stretch/>
        </p:blipFill>
        <p:spPr>
          <a:xfrm>
            <a:off x="994320" y="40575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caso-texto-Salud"/>
          <p:cNvSpPr/>
          <p:nvPr/>
        </p:nvSpPr>
        <p:spPr>
          <a:xfrm>
            <a:off x="1691640" y="3794760"/>
            <a:ext cx="2188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Salud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mbria"/>
              </a:rPr>
              <a:t>Informe preliminar de síntomas para llevar al médico.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caso-Empresas"/>
          <p:cNvSpPr/>
          <p:nvPr/>
        </p:nvSpPr>
        <p:spPr>
          <a:xfrm>
            <a:off x="4337280" y="3611880"/>
            <a:ext cx="3513960" cy="1691280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caso-icono-Empresas-circulo"/>
          <p:cNvSpPr/>
          <p:nvPr/>
        </p:nvSpPr>
        <p:spPr>
          <a:xfrm>
            <a:off x="4611600" y="388620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3" name="caso-icono-Empresas-icono" descr="caso-icono-Empresas"/>
          <p:cNvPicPr/>
          <p:nvPr/>
        </p:nvPicPr>
        <p:blipFill>
          <a:blip r:embed="rId9"/>
          <a:stretch/>
        </p:blipFill>
        <p:spPr>
          <a:xfrm>
            <a:off x="4782960" y="40575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caso-texto-Empresas"/>
          <p:cNvSpPr/>
          <p:nvPr/>
        </p:nvSpPr>
        <p:spPr>
          <a:xfrm>
            <a:off x="5480280" y="3794760"/>
            <a:ext cx="2188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Empresas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mbria"/>
              </a:rPr>
              <a:t>Opiniones de clientes resumidas para el supervisor.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caso-Educación"/>
          <p:cNvSpPr/>
          <p:nvPr/>
        </p:nvSpPr>
        <p:spPr>
          <a:xfrm>
            <a:off x="8125920" y="3611880"/>
            <a:ext cx="3513960" cy="1691280"/>
          </a:xfrm>
          <a:prstGeom prst="roundRect">
            <a:avLst>
              <a:gd name="adj" fmla="val 8108"/>
            </a:avLst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caso-icono-Educación-circulo"/>
          <p:cNvSpPr/>
          <p:nvPr/>
        </p:nvSpPr>
        <p:spPr>
          <a:xfrm>
            <a:off x="8400240" y="3886200"/>
            <a:ext cx="685440" cy="685440"/>
          </a:xfrm>
          <a:prstGeom prst="ellipse">
            <a:avLst/>
          </a:prstGeom>
          <a:solidFill>
            <a:schemeClr val="tx2"/>
          </a:solidFill>
          <a:ln w="12700">
            <a:solidFill>
              <a:srgbClr val="14213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caso-icono-Educación-icono" descr="caso-icono-Educación"/>
          <p:cNvPicPr/>
          <p:nvPr/>
        </p:nvPicPr>
        <p:blipFill>
          <a:blip r:embed="rId10"/>
          <a:stretch/>
        </p:blipFill>
        <p:spPr>
          <a:xfrm>
            <a:off x="8571600" y="4057560"/>
            <a:ext cx="342720" cy="3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caso-texto-Educación"/>
          <p:cNvSpPr/>
          <p:nvPr/>
        </p:nvSpPr>
        <p:spPr>
          <a:xfrm>
            <a:off x="9268920" y="3794760"/>
            <a:ext cx="2188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Educación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accent6"/>
                </a:solidFill>
                <a:effectLst/>
                <a:uFillTx/>
                <a:latin typeface="Calibri"/>
                <a:ea typeface="Cambria"/>
              </a:rPr>
              <a:t>Plan de estudio de StudyBuddy IA para el tutor.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ia-responsable-circulo"/>
          <p:cNvSpPr/>
          <p:nvPr/>
        </p:nvSpPr>
        <p:spPr>
          <a:xfrm>
            <a:off x="548640" y="5532120"/>
            <a:ext cx="456840" cy="456840"/>
          </a:xfrm>
          <a:prstGeom prst="ellipse">
            <a:avLst/>
          </a:prstGeom>
          <a:solidFill>
            <a:schemeClr val="bg2"/>
          </a:solidFill>
          <a:ln w="12700">
            <a:solidFill>
              <a:srgbClr val="F2F4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0" name="ia-responsable-icono" descr="ia-responsable"/>
          <p:cNvPicPr/>
          <p:nvPr/>
        </p:nvPicPr>
        <p:blipFill>
          <a:blip r:embed="rId11"/>
          <a:stretch/>
        </p:blipFill>
        <p:spPr>
          <a:xfrm>
            <a:off x="663120" y="564660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ia-responsable-texto"/>
          <p:cNvSpPr/>
          <p:nvPr/>
        </p:nvSpPr>
        <p:spPr>
          <a:xfrm>
            <a:off x="1143000" y="553212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chemeClr val="accent6"/>
                </a:solidFill>
                <a:effectLst/>
                <a:uFillTx/>
                <a:latin typeface="Calibri"/>
              </a:rPr>
              <a:t>Uso responsable: el PDF dice qué IA lo generó, con qué confianza, e incluye un QR de verificación.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5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9E03F-0D13-456A-8A68-01DF77690FB6}" type="slidenum">
              <a:rPr lang="en-US" sz="1000" b="0" u="none" strike="noStrike">
                <a:solidFill>
                  <a:srgbClr val="5B6475"/>
                </a:solidFill>
                <a:effectLst/>
                <a:uFillTx/>
                <a:latin typeface="Calibri"/>
              </a:rPr>
              <a:t>11</a:t>
            </a:fld>
            <a:endParaRPr lang="es-E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hasCustomPrompt="1"/>
          </p:nvPr>
        </p:nvSpPr>
        <p:spPr>
          <a:xfrm>
            <a:off x="548640" y="411480"/>
            <a:ext cx="11063880" cy="292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1" u="none" strike="noStrike" spc="300">
                <a:solidFill>
                  <a:schemeClr val="accent1"/>
                </a:solidFill>
                <a:effectLst/>
                <a:uFillTx/>
                <a:latin typeface="Calibri"/>
              </a:rPr>
              <a:t>CONCLUSIONES</a:t>
            </a:r>
            <a:endParaRPr lang="es-E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title" hasCustomPrompt="1"/>
          </p:nvPr>
        </p:nvSpPr>
        <p:spPr>
          <a:xfrm>
            <a:off x="548640" y="713160"/>
            <a:ext cx="11063880" cy="77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1" u="none" strike="noStrike">
                <a:solidFill>
                  <a:schemeClr val="lt1"/>
                </a:solidFill>
                <a:effectLst/>
                <a:uFillTx/>
                <a:latin typeface="Cambria"/>
              </a:rPr>
              <a:t>Tres ideas para llevarse</a:t>
            </a:r>
            <a:endParaRPr lang="es-E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idea-1"/>
          <p:cNvSpPr/>
          <p:nvPr/>
        </p:nvSpPr>
        <p:spPr>
          <a:xfrm>
            <a:off x="548640" y="1783080"/>
            <a:ext cx="3513960" cy="2377080"/>
          </a:xfrm>
          <a:prstGeom prst="roundRect">
            <a:avLst>
              <a:gd name="adj" fmla="val 5769"/>
            </a:avLst>
          </a:prstGeom>
          <a:solidFill>
            <a:schemeClr val="accent2"/>
          </a:solidFill>
          <a:ln w="12700">
            <a:solidFill>
              <a:srgbClr val="2D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idea-numero-1"/>
          <p:cNvSpPr/>
          <p:nvPr/>
        </p:nvSpPr>
        <p:spPr>
          <a:xfrm>
            <a:off x="822960" y="205740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idea-numero-1-num"/>
          <p:cNvSpPr/>
          <p:nvPr/>
        </p:nvSpPr>
        <p:spPr>
          <a:xfrm>
            <a:off x="82296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idea-texto-1"/>
          <p:cNvSpPr/>
          <p:nvPr/>
        </p:nvSpPr>
        <p:spPr>
          <a:xfrm>
            <a:off x="822960" y="2880360"/>
            <a:ext cx="29653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Diseñar un PDF es como diseñar una pantalla de Flutter, pero en hojas.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idea-2"/>
          <p:cNvSpPr/>
          <p:nvPr/>
        </p:nvSpPr>
        <p:spPr>
          <a:xfrm>
            <a:off x="4337280" y="1783080"/>
            <a:ext cx="3513960" cy="2377080"/>
          </a:xfrm>
          <a:prstGeom prst="roundRect">
            <a:avLst>
              <a:gd name="adj" fmla="val 5769"/>
            </a:avLst>
          </a:prstGeom>
          <a:solidFill>
            <a:schemeClr val="accent2"/>
          </a:solidFill>
          <a:ln w="12700">
            <a:solidFill>
              <a:srgbClr val="2D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idea-numero-2"/>
          <p:cNvSpPr/>
          <p:nvPr/>
        </p:nvSpPr>
        <p:spPr>
          <a:xfrm>
            <a:off x="4611600" y="205740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idea-numero-2-num"/>
          <p:cNvSpPr/>
          <p:nvPr/>
        </p:nvSpPr>
        <p:spPr>
          <a:xfrm>
            <a:off x="461160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idea-texto-2"/>
          <p:cNvSpPr/>
          <p:nvPr/>
        </p:nvSpPr>
        <p:spPr>
          <a:xfrm>
            <a:off x="4611600" y="2880360"/>
            <a:ext cx="29653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printing y share_plus conectan la app con el celular: vista previa, impresión y menú Compartir.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idea-3"/>
          <p:cNvSpPr/>
          <p:nvPr/>
        </p:nvSpPr>
        <p:spPr>
          <a:xfrm>
            <a:off x="8125920" y="1783080"/>
            <a:ext cx="3513960" cy="2377080"/>
          </a:xfrm>
          <a:prstGeom prst="roundRect">
            <a:avLst>
              <a:gd name="adj" fmla="val 5769"/>
            </a:avLst>
          </a:prstGeom>
          <a:solidFill>
            <a:schemeClr val="accent2"/>
          </a:solidFill>
          <a:ln w="12700">
            <a:solidFill>
              <a:srgbClr val="2D4A7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idea-numero-3"/>
          <p:cNvSpPr/>
          <p:nvPr/>
        </p:nvSpPr>
        <p:spPr>
          <a:xfrm>
            <a:off x="8400240" y="2057400"/>
            <a:ext cx="639720" cy="6397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idea-numero-3-num"/>
          <p:cNvSpPr/>
          <p:nvPr/>
        </p:nvSpPr>
        <p:spPr>
          <a:xfrm>
            <a:off x="840024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E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idea-texto-3"/>
          <p:cNvSpPr/>
          <p:nvPr/>
        </p:nvSpPr>
        <p:spPr>
          <a:xfrm>
            <a:off x="8400240" y="2880360"/>
            <a:ext cx="29653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Con IA: pedir datos ordenados, revisarlos y entregar un documento claro y honesto.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cierre-preguntas"/>
          <p:cNvSpPr/>
          <p:nvPr/>
        </p:nvSpPr>
        <p:spPr>
          <a:xfrm>
            <a:off x="548640" y="452628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mbria"/>
                <a:ea typeface="Cambria"/>
              </a:rPr>
              <a:t>¿Preguntas?</a:t>
            </a:r>
            <a:endParaRPr lang="es-E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cierre-github-circulo"/>
          <p:cNvSpPr/>
          <p:nvPr/>
        </p:nvSpPr>
        <p:spPr>
          <a:xfrm>
            <a:off x="548640" y="5440680"/>
            <a:ext cx="502560" cy="5025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9A2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cierre-github-icono" descr="cierre-github"/>
          <p:cNvPicPr/>
          <p:nvPr/>
        </p:nvPicPr>
        <p:blipFill>
          <a:blip r:embed="rId3"/>
          <a:stretch/>
        </p:blipFill>
        <p:spPr>
          <a:xfrm>
            <a:off x="674280" y="5566320"/>
            <a:ext cx="251280" cy="25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cierre-repo"/>
          <p:cNvSpPr/>
          <p:nvPr/>
        </p:nvSpPr>
        <p:spPr>
          <a:xfrm>
            <a:off x="1234440" y="544068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Calibri"/>
              </a:rPr>
              <a:t>Código, guía y PDF de ejemplo: github.com/Sebas366/reportes_pdf</a:t>
            </a:r>
            <a:endParaRPr lang="es-E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6"/>
          </p:nvPr>
        </p:nvSpPr>
        <p:spPr>
          <a:xfrm>
            <a:off x="11091600" y="6355080"/>
            <a:ext cx="54828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B8C2D9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D50FAD-DB07-457D-8F7B-565FC0FAF2B1}" type="slidenum">
              <a:rPr lang="en-US" sz="1000" b="0" u="none" strike="noStrike">
                <a:solidFill>
                  <a:srgbClr val="B8C2D9"/>
                </a:solidFill>
                <a:effectLst/>
                <a:uFillTx/>
                <a:latin typeface="Calibri"/>
              </a:rPr>
              <a:t>12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nta y Oro">
  <a:themeElements>
    <a:clrScheme name="Tinta y Oro">
      <a:dk1>
        <a:srgbClr val="1C2333"/>
      </a:dk1>
      <a:lt1>
        <a:srgbClr val="FFFFFF"/>
      </a:lt1>
      <a:dk2>
        <a:srgbClr val="14213D"/>
      </a:dk2>
      <a:lt2>
        <a:srgbClr val="F2F4F8"/>
      </a:lt2>
      <a:accent1>
        <a:srgbClr val="C9A24D"/>
      </a:accent1>
      <a:accent2>
        <a:srgbClr val="2D4A7A"/>
      </a:accent2>
      <a:accent3>
        <a:srgbClr val="B8C2D9"/>
      </a:accent3>
      <a:accent4>
        <a:srgbClr val="3F7D6E"/>
      </a:accent4>
      <a:accent5>
        <a:srgbClr val="B23A48"/>
      </a:accent5>
      <a:accent6>
        <a:srgbClr val="5B6475"/>
      </a:accent6>
      <a:hlink>
        <a:srgbClr val="2D4A7A"/>
      </a:hlink>
      <a:folHlink>
        <a:srgbClr val="5B6475"/>
      </a:folHlink>
    </a:clrScheme>
    <a:fontScheme name="Tinta y O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1700</Words>
  <Application>Microsoft Office PowerPoint</Application>
  <PresentationFormat>Panorámica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Symbol</vt:lpstr>
      <vt:lpstr>Times New Roman</vt:lpstr>
      <vt:lpstr>Wingdings</vt:lpstr>
      <vt:lpstr>Tinta y Oro</vt:lpstr>
      <vt:lpstr>Reportes PDF y Compartir en Flutter</vt:lpstr>
      <vt:lpstr>Lo que veremos en 20 minutos</vt:lpstr>
      <vt:lpstr>La IA da texto; las personas necesitan documentos</vt:lpstr>
      <vt:lpstr>Cuatro paquetes, cada uno con una tarea</vt:lpstr>
      <vt:lpstr>Un PDF se diseña como una pantalla de Flutter</vt:lpstr>
      <vt:lpstr>Del botón al menú Compartir en 4 pasos</vt:lpstr>
      <vt:lpstr>Listo en tres pasos</vt:lpstr>
      <vt:lpstr>Veámoslo funcionando</vt:lpstr>
      <vt:lpstr>Un reporte profesional, hecho en el celular</vt:lpstr>
      <vt:lpstr>¿Crear el PDF en el celular o en el servidor?</vt:lpstr>
      <vt:lpstr>Del prompt al documento: así encaja la IA</vt:lpstr>
      <vt:lpstr>Tres ideas para llevarse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Reportes PDF y Compartir en Flutter</dc:title>
  <dc:subject>Tema 13 · Desarrollo de Aplicaciones para Dispositivos Móviles</dc:subject>
  <dc:creator>Bina Tema 13 · Universidad de Nariño</dc:creator>
  <dc:description/>
  <cp:lastModifiedBy>GUILLERMO ALEJANDRO HERNANDEZ QUIROZ</cp:lastModifiedBy>
  <cp:revision>3</cp:revision>
  <dcterms:created xsi:type="dcterms:W3CDTF">2026-10-06T03:43:23Z</dcterms:created>
  <dcterms:modified xsi:type="dcterms:W3CDTF">2026-10-06T03:53:32Z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